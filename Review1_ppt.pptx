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enkatacha1/Software-Developmen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0;p13"/>
          <p:cNvSpPr txBox="1"/>
          <p:nvPr/>
        </p:nvSpPr>
        <p:spPr>
          <a:xfrm>
            <a:off x="6571094" y="2109717"/>
            <a:ext cx="5422851" cy="202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pPr algn="ctr">
              <a:defRPr sz="2000" b="1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Under the Supervision of,</a:t>
            </a:r>
          </a:p>
          <a:p>
            <a:pPr algn="ctr">
              <a:spcBef>
                <a:spcPts val="300"/>
              </a:spcBef>
              <a:defRPr sz="1700" b="1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lang="en-IN" dirty="0" err="1"/>
              <a:t>Dr.Jayavadivel</a:t>
            </a:r>
            <a:r>
              <a:rPr lang="en-IN" dirty="0"/>
              <a:t> Ravi</a:t>
            </a:r>
          </a:p>
          <a:p>
            <a:pPr algn="ctr">
              <a:spcBef>
                <a:spcPts val="300"/>
              </a:spcBef>
              <a:defRPr sz="1700" b="1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Associate Professor </a:t>
            </a:r>
          </a:p>
          <a:p>
            <a:pPr algn="ctr">
              <a:spcBef>
                <a:spcPts val="300"/>
              </a:spcBef>
              <a:defRPr sz="1700" b="1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Presidency School of CSE</a:t>
            </a:r>
          </a:p>
          <a:p>
            <a:pPr algn="ctr">
              <a:spcBef>
                <a:spcPts val="300"/>
              </a:spcBef>
              <a:defRPr sz="1700" b="1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Presidency University</a:t>
            </a:r>
          </a:p>
        </p:txBody>
      </p:sp>
      <p:sp>
        <p:nvSpPr>
          <p:cNvPr id="95" name="Google Shape;91;p13"/>
          <p:cNvSpPr txBox="1"/>
          <p:nvPr/>
        </p:nvSpPr>
        <p:spPr>
          <a:xfrm>
            <a:off x="202135" y="4142978"/>
            <a:ext cx="12158467" cy="1551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2000" b="1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Program: B.Tech</a:t>
            </a:r>
          </a:p>
          <a:p>
            <a:pPr>
              <a:defRPr sz="2000" b="1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HoD: Dr. Asif Mohamed H.B</a:t>
            </a:r>
          </a:p>
          <a:p>
            <a:pPr>
              <a:defRPr sz="2000" b="1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Program Internship Coordinator: Dr.Balakrishnan</a:t>
            </a:r>
          </a:p>
          <a:p>
            <a:pPr>
              <a:defRPr sz="2000" b="1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Name of the School Internship Coordinator: </a:t>
            </a:r>
            <a:r>
              <a:rPr>
                <a:solidFill>
                  <a:srgbClr val="000000"/>
                </a:solidFill>
              </a:rPr>
              <a:t>Dr. Md Ziaur Rahman</a:t>
            </a:r>
          </a:p>
          <a:p>
            <a:pPr>
              <a:defRPr sz="2000" b="1">
                <a:latin typeface="Cambria"/>
                <a:ea typeface="Cambria"/>
                <a:cs typeface="Cambria"/>
                <a:sym typeface="Cambria"/>
              </a:defRPr>
            </a:pPr>
            <a:r>
              <a:t> 													</a:t>
            </a:r>
          </a:p>
        </p:txBody>
      </p:sp>
      <p:sp>
        <p:nvSpPr>
          <p:cNvPr id="96" name="Title 1"/>
          <p:cNvSpPr txBox="1"/>
          <p:nvPr/>
        </p:nvSpPr>
        <p:spPr>
          <a:xfrm>
            <a:off x="883924" y="-220767"/>
            <a:ext cx="10424152" cy="2262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 algn="ctr">
              <a:defRPr sz="28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ctr">
              <a:defRPr sz="28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CSE7302 - INTERNSHIP</a:t>
            </a:r>
            <a:br>
              <a:rPr dirty="0"/>
            </a:br>
            <a:r>
              <a:rPr sz="2400" dirty="0">
                <a:solidFill>
                  <a:srgbClr val="0070C0"/>
                </a:solidFill>
              </a:rPr>
              <a:t>Review-1 Presentation </a:t>
            </a:r>
            <a:br>
              <a:rPr sz="2400" dirty="0">
                <a:solidFill>
                  <a:srgbClr val="0070C0"/>
                </a:solidFill>
              </a:rPr>
            </a:br>
            <a:r>
              <a:rPr sz="2400" dirty="0">
                <a:solidFill>
                  <a:srgbClr val="0070C0"/>
                </a:solidFill>
              </a:rPr>
              <a:t>SOFTWARE DEVELOPMENT</a:t>
            </a:r>
          </a:p>
          <a:p>
            <a:pPr algn="ctr">
              <a:defRPr sz="28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sz="2400" dirty="0">
                <a:solidFill>
                  <a:srgbClr val="0070C0"/>
                </a:solidFill>
              </a:rPr>
            </a:br>
            <a:endParaRPr sz="2400" dirty="0">
              <a:solidFill>
                <a:srgbClr val="0070C0"/>
              </a:solidFill>
            </a:endParaRPr>
          </a:p>
        </p:txBody>
      </p:sp>
      <p:graphicFrame>
        <p:nvGraphicFramePr>
          <p:cNvPr id="97" name="Table 9"/>
          <p:cNvGraphicFramePr/>
          <p:nvPr>
            <p:extLst>
              <p:ext uri="{D42A27DB-BD31-4B8C-83A1-F6EECF244321}">
                <p14:modId xmlns:p14="http://schemas.microsoft.com/office/powerpoint/2010/main" val="3282148139"/>
              </p:ext>
            </p:extLst>
          </p:nvPr>
        </p:nvGraphicFramePr>
        <p:xfrm>
          <a:off x="601908" y="1911874"/>
          <a:ext cx="5321552" cy="146304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Student Details</a:t>
                      </a:r>
                    </a:p>
                  </a:txBody>
                  <a:tcPr marL="45720" marR="4572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dirty="0" err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Polanki</a:t>
                      </a:r>
                      <a:r>
                        <a:rPr lang="en-US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Venkata </a:t>
                      </a:r>
                      <a:r>
                        <a:rPr lang="en-US" dirty="0" err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Charan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Roll No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20221CSE0</a:t>
                      </a:r>
                      <a:r>
                        <a:rPr lang="en-US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265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Section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</a:t>
                      </a:r>
                      <a:r>
                        <a:rPr lang="en-US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CSE02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 lIns="45699" tIns="45699" rIns="45699" bIns="45699"/>
          <a:lstStyle>
            <a:lvl1pPr defTabSz="548640">
              <a:defRPr sz="264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Content</a:t>
            </a:r>
          </a:p>
        </p:txBody>
      </p:sp>
      <p:sp>
        <p:nvSpPr>
          <p:cNvPr id="100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69"/>
            <a:ext cx="10668001" cy="4271211"/>
          </a:xfrm>
          <a:prstGeom prst="rect">
            <a:avLst/>
          </a:prstGeom>
        </p:spPr>
        <p:txBody>
          <a:bodyPr lIns="45699" tIns="45699" rIns="45699" bIns="45699"/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Tx/>
              <a:buChar char="➢"/>
              <a:defRPr sz="20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Tx/>
              <a:buChar char="➢"/>
              <a:defRPr sz="20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Working domain or the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Tx/>
              <a:buChar char="➢"/>
              <a:defRPr sz="20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About your team and reporting Manager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Tx/>
              <a:buChar char="➢"/>
              <a:defRPr sz="20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Faced in Internship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Tx/>
              <a:buChar char="➢"/>
              <a:defRPr sz="20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Tx/>
              <a:buChar char="➢"/>
              <a:defRPr sz="20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Tx/>
              <a:buChar char="➢"/>
              <a:defRPr sz="20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Github Link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7990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About Company or Organization</a:t>
            </a:r>
          </a:p>
        </p:txBody>
      </p:sp>
      <p:sp>
        <p:nvSpPr>
          <p:cNvPr id="10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38221" y="1516426"/>
            <a:ext cx="10515601" cy="4193176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 err="1"/>
              <a:t>Devlustro</a:t>
            </a:r>
            <a:r>
              <a:rPr dirty="0"/>
              <a:t> Technologies Private Limited is a technology company delivering software based digital learning platforms, Learning Management Systems (LMS), training portals, and academic automation solutions.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company works closely with all sort of business, educational institutions, training academies, and corporate learning partners to provide scalable and modern education technology solutions.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 organization focuses on skill-based learning, internship training programs, and industry-oriented digital platforms.</a:t>
            </a:r>
          </a:p>
        </p:txBody>
      </p:sp>
      <p:sp>
        <p:nvSpPr>
          <p:cNvPr id="10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Working domain or the technology</a:t>
            </a:r>
          </a:p>
        </p:txBody>
      </p:sp>
      <p:sp>
        <p:nvSpPr>
          <p:cNvPr id="10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96019" y="1196215"/>
            <a:ext cx="10515601" cy="430447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676655">
              <a:spcBef>
                <a:spcPts val="700"/>
              </a:spcBef>
              <a:buSzTx/>
              <a:buFontTx/>
              <a:buNone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Working Domain: Software Development</a:t>
            </a:r>
          </a:p>
          <a:p>
            <a:pPr marL="0" indent="0" defTabSz="676655">
              <a:spcBef>
                <a:spcPts val="700"/>
              </a:spcBef>
              <a:buSzTx/>
              <a:buFontTx/>
              <a:buNone/>
              <a:defRPr sz="2072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Technologies Used</a:t>
            </a:r>
            <a:r>
              <a:rPr sz="2000" u="none" dirty="0"/>
              <a:t> :</a:t>
            </a:r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 err="1"/>
              <a:t>HTML,CSS,Javascript</a:t>
            </a:r>
            <a:endParaRPr sz="2000" dirty="0"/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PHP/Node.js</a:t>
            </a:r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MySQL/</a:t>
            </a:r>
            <a:r>
              <a:rPr sz="2000" dirty="0" err="1"/>
              <a:t>MangoDB</a:t>
            </a:r>
            <a:endParaRPr sz="2000" dirty="0"/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 err="1"/>
              <a:t>Git&amp;GitHub</a:t>
            </a:r>
            <a:endParaRPr sz="2000" dirty="0"/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REST API</a:t>
            </a:r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L</a:t>
            </a:r>
            <a:r>
              <a:rPr lang="en-US" sz="2000" dirty="0"/>
              <a:t>MS</a:t>
            </a:r>
            <a:r>
              <a:rPr sz="2000" dirty="0"/>
              <a:t> Platform</a:t>
            </a:r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Student Management System</a:t>
            </a:r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Certificate Automation</a:t>
            </a:r>
          </a:p>
          <a:p>
            <a:pPr marL="207745" indent="-207745" defTabSz="676655">
              <a:spcBef>
                <a:spcPts val="700"/>
              </a:spcBef>
              <a:buFontTx/>
              <a:defRPr sz="207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000" dirty="0"/>
              <a:t>AI in education platforms</a:t>
            </a:r>
          </a:p>
        </p:txBody>
      </p:sp>
      <p:sp>
        <p:nvSpPr>
          <p:cNvPr id="10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About your team and reporting Manager</a:t>
            </a:r>
          </a:p>
        </p:txBody>
      </p:sp>
      <p:sp>
        <p:nvSpPr>
          <p:cNvPr id="11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43412" y="1670151"/>
            <a:ext cx="10515601" cy="4058195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internship was carried out under:</a:t>
            </a:r>
          </a:p>
          <a:p>
            <a:pPr marL="0" indent="0">
              <a:buSzTx/>
              <a:buFontTx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Project Manager: Sreesh Bhat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team included Frontend, Backend, Graphic Designer and QA testers.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reporting manager guided the intern in technical implementation, project workflow, and complete project development.</a:t>
            </a:r>
          </a:p>
        </p:txBody>
      </p:sp>
      <p:sp>
        <p:nvSpPr>
          <p:cNvPr id="11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Challenges Faced in Internship</a:t>
            </a:r>
          </a:p>
        </p:txBody>
      </p:sp>
      <p:sp>
        <p:nvSpPr>
          <p:cNvPr id="11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06901" y="1278151"/>
            <a:ext cx="10515601" cy="405819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Understanding project requirements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Learning new tools and technologies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Managing tasks and deadlines</a:t>
            </a:r>
          </a:p>
        </p:txBody>
      </p:sp>
      <p:sp>
        <p:nvSpPr>
          <p:cNvPr id="11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 of the work</a:t>
            </a:r>
          </a:p>
        </p:txBody>
      </p:sp>
      <p:sp>
        <p:nvSpPr>
          <p:cNvPr id="11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2191480"/>
            <a:ext cx="10515601" cy="4058195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Gain practical industry experience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 theoretical knowledge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Develop technical and problem-solving skills</a:t>
            </a:r>
          </a:p>
        </p:txBody>
      </p:sp>
      <p:sp>
        <p:nvSpPr>
          <p:cNvPr id="12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Internship Road Map</a:t>
            </a:r>
          </a:p>
        </p:txBody>
      </p:sp>
      <p:sp>
        <p:nvSpPr>
          <p:cNvPr id="12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grpSp>
        <p:nvGrpSpPr>
          <p:cNvPr id="149" name="Content Placeholder 7"/>
          <p:cNvGrpSpPr/>
          <p:nvPr/>
        </p:nvGrpSpPr>
        <p:grpSpPr>
          <a:xfrm>
            <a:off x="2887358" y="1399902"/>
            <a:ext cx="6417169" cy="4058196"/>
            <a:chOff x="-28758" y="0"/>
            <a:chExt cx="6417167" cy="4058195"/>
          </a:xfrm>
        </p:grpSpPr>
        <p:sp>
          <p:nvSpPr>
            <p:cNvPr id="124" name="Shape"/>
            <p:cNvSpPr/>
            <p:nvPr/>
          </p:nvSpPr>
          <p:spPr>
            <a:xfrm>
              <a:off x="5110089" y="811638"/>
              <a:ext cx="1278321" cy="32465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9000"/>
                  </a:lnTo>
                  <a:lnTo>
                    <a:pt x="10800" y="10800"/>
                  </a:lnTo>
                  <a:lnTo>
                    <a:pt x="0" y="3600"/>
                  </a:lnTo>
                  <a:close/>
                </a:path>
              </a:pathLst>
            </a:custGeom>
            <a:solidFill>
              <a:srgbClr val="BFC8E4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grpSp>
          <p:nvGrpSpPr>
            <p:cNvPr id="127" name="Group"/>
            <p:cNvGrpSpPr/>
            <p:nvPr/>
          </p:nvGrpSpPr>
          <p:grpSpPr>
            <a:xfrm>
              <a:off x="5110089" y="0"/>
              <a:ext cx="1278321" cy="811640"/>
              <a:chOff x="0" y="0"/>
              <a:chExt cx="1278320" cy="811639"/>
            </a:xfrm>
          </p:grpSpPr>
          <p:sp>
            <p:nvSpPr>
              <p:cNvPr id="125" name="Rectangle"/>
              <p:cNvSpPr/>
              <p:nvPr/>
            </p:nvSpPr>
            <p:spPr>
              <a:xfrm>
                <a:off x="-1" y="-1"/>
                <a:ext cx="1278322" cy="811641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1100"/>
                  </a:spcBef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26" name="Final Review"/>
              <p:cNvSpPr txBox="1"/>
              <p:nvPr/>
            </p:nvSpPr>
            <p:spPr>
              <a:xfrm>
                <a:off x="0" y="69680"/>
                <a:ext cx="1278321" cy="6722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3500" tIns="63500" rIns="63500" bIns="63500" numCol="1" anchor="ctr">
                <a:spAutoFit/>
              </a:bodyPr>
              <a:lstStyle>
                <a:lvl1pPr marL="228600" indent="-228600" algn="ctr" defTabSz="889000">
                  <a:lnSpc>
                    <a:spcPct val="90000"/>
                  </a:lnSpc>
                  <a:spcBef>
                    <a:spcPts val="800"/>
                  </a:spcBef>
                  <a:buSzPct val="100000"/>
                  <a:buFont typeface="Arial"/>
                  <a:buChar char="•"/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Final Review</a:t>
                </a:r>
              </a:p>
            </p:txBody>
          </p:sp>
        </p:grpSp>
        <p:sp>
          <p:nvSpPr>
            <p:cNvPr id="128" name="Shape"/>
            <p:cNvSpPr/>
            <p:nvPr/>
          </p:nvSpPr>
          <p:spPr>
            <a:xfrm>
              <a:off x="3834963" y="811638"/>
              <a:ext cx="1438111" cy="3043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200" y="0"/>
                  </a:lnTo>
                  <a:lnTo>
                    <a:pt x="19200" y="12600"/>
                  </a:lnTo>
                  <a:lnTo>
                    <a:pt x="21600" y="15299"/>
                  </a:lnTo>
                  <a:lnTo>
                    <a:pt x="19200" y="18000"/>
                  </a:lnTo>
                  <a:lnTo>
                    <a:pt x="19200" y="21600"/>
                  </a:lnTo>
                  <a:lnTo>
                    <a:pt x="0" y="21600"/>
                  </a:lnTo>
                  <a:lnTo>
                    <a:pt x="0" y="12600"/>
                  </a:lnTo>
                  <a:close/>
                </a:path>
              </a:pathLst>
            </a:custGeom>
            <a:solidFill>
              <a:srgbClr val="C6ECE7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  <a:defRPr sz="2800"/>
              </a:pPr>
              <a:endParaRPr/>
            </a:p>
          </p:txBody>
        </p:sp>
        <p:grpSp>
          <p:nvGrpSpPr>
            <p:cNvPr id="131" name="Group"/>
            <p:cNvGrpSpPr/>
            <p:nvPr/>
          </p:nvGrpSpPr>
          <p:grpSpPr>
            <a:xfrm>
              <a:off x="3834963" y="101454"/>
              <a:ext cx="1278321" cy="710184"/>
              <a:chOff x="0" y="0"/>
              <a:chExt cx="1278320" cy="710183"/>
            </a:xfrm>
          </p:grpSpPr>
          <p:sp>
            <p:nvSpPr>
              <p:cNvPr id="129" name="Rectangle"/>
              <p:cNvSpPr/>
              <p:nvPr/>
            </p:nvSpPr>
            <p:spPr>
              <a:xfrm>
                <a:off x="-1" y="0"/>
                <a:ext cx="1278322" cy="710184"/>
              </a:xfrm>
              <a:prstGeom prst="rect">
                <a:avLst/>
              </a:prstGeom>
              <a:solidFill>
                <a:schemeClr val="accent3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1100"/>
                  </a:spcBef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30" name="Review 4"/>
              <p:cNvSpPr txBox="1"/>
              <p:nvPr/>
            </p:nvSpPr>
            <p:spPr>
              <a:xfrm>
                <a:off x="0" y="18952"/>
                <a:ext cx="1278321" cy="6722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3500" tIns="63500" rIns="63500" bIns="63500" numCol="1" anchor="ctr">
                <a:spAutoFit/>
              </a:bodyPr>
              <a:lstStyle>
                <a:lvl1pPr marL="228600" indent="-228600" algn="ctr" defTabSz="889000">
                  <a:lnSpc>
                    <a:spcPct val="90000"/>
                  </a:lnSpc>
                  <a:spcBef>
                    <a:spcPts val="800"/>
                  </a:spcBef>
                  <a:buSzPct val="100000"/>
                  <a:buFont typeface="Arial"/>
                  <a:buChar char="•"/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Review 4</a:t>
                </a:r>
              </a:p>
            </p:txBody>
          </p:sp>
        </p:grpSp>
        <p:sp>
          <p:nvSpPr>
            <p:cNvPr id="132" name="Shape"/>
            <p:cNvSpPr/>
            <p:nvPr/>
          </p:nvSpPr>
          <p:spPr>
            <a:xfrm>
              <a:off x="2556641" y="811639"/>
              <a:ext cx="1438111" cy="2840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200" y="0"/>
                  </a:lnTo>
                  <a:lnTo>
                    <a:pt x="19200" y="12600"/>
                  </a:lnTo>
                  <a:lnTo>
                    <a:pt x="21600" y="15299"/>
                  </a:lnTo>
                  <a:lnTo>
                    <a:pt x="19200" y="18000"/>
                  </a:lnTo>
                  <a:lnTo>
                    <a:pt x="19200" y="21600"/>
                  </a:lnTo>
                  <a:lnTo>
                    <a:pt x="0" y="21600"/>
                  </a:lnTo>
                  <a:lnTo>
                    <a:pt x="0" y="12600"/>
                  </a:lnTo>
                  <a:close/>
                </a:path>
              </a:pathLst>
            </a:custGeom>
            <a:solidFill>
              <a:srgbClr val="D0F2D0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r" defTabSz="889000">
                <a:lnSpc>
                  <a:spcPct val="90000"/>
                </a:lnSpc>
                <a:spcBef>
                  <a:spcPts val="1100"/>
                </a:spcBef>
                <a:defRPr sz="20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grpSp>
          <p:nvGrpSpPr>
            <p:cNvPr id="135" name="Group"/>
            <p:cNvGrpSpPr/>
            <p:nvPr/>
          </p:nvGrpSpPr>
          <p:grpSpPr>
            <a:xfrm>
              <a:off x="2556641" y="174381"/>
              <a:ext cx="1278321" cy="672280"/>
              <a:chOff x="0" y="0"/>
              <a:chExt cx="1278320" cy="672278"/>
            </a:xfrm>
          </p:grpSpPr>
          <p:sp>
            <p:nvSpPr>
              <p:cNvPr id="133" name="Rectangle"/>
              <p:cNvSpPr/>
              <p:nvPr/>
            </p:nvSpPr>
            <p:spPr>
              <a:xfrm>
                <a:off x="0" y="31775"/>
                <a:ext cx="1278321" cy="608729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1100"/>
                  </a:spcBef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34" name="Review 3"/>
              <p:cNvSpPr txBox="1"/>
              <p:nvPr/>
            </p:nvSpPr>
            <p:spPr>
              <a:xfrm>
                <a:off x="0" y="0"/>
                <a:ext cx="1278321" cy="6722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3500" tIns="63500" rIns="63500" bIns="63500" numCol="1" anchor="ctr">
                <a:spAutoFit/>
              </a:bodyPr>
              <a:lstStyle>
                <a:lvl1pPr marL="228600" indent="-228600" algn="ctr" defTabSz="889000">
                  <a:lnSpc>
                    <a:spcPct val="90000"/>
                  </a:lnSpc>
                  <a:spcBef>
                    <a:spcPts val="800"/>
                  </a:spcBef>
                  <a:buSzPct val="100000"/>
                  <a:buFont typeface="Arial"/>
                  <a:buChar char="•"/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Review 3</a:t>
                </a:r>
              </a:p>
            </p:txBody>
          </p:sp>
        </p:grpSp>
        <p:sp>
          <p:nvSpPr>
            <p:cNvPr id="136" name="Shape"/>
            <p:cNvSpPr/>
            <p:nvPr/>
          </p:nvSpPr>
          <p:spPr>
            <a:xfrm>
              <a:off x="1278321" y="811638"/>
              <a:ext cx="1438111" cy="2637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200" y="0"/>
                  </a:lnTo>
                  <a:lnTo>
                    <a:pt x="19200" y="12600"/>
                  </a:lnTo>
                  <a:lnTo>
                    <a:pt x="21600" y="15299"/>
                  </a:lnTo>
                  <a:lnTo>
                    <a:pt x="19200" y="18000"/>
                  </a:lnTo>
                  <a:lnTo>
                    <a:pt x="19200" y="21600"/>
                  </a:lnTo>
                  <a:lnTo>
                    <a:pt x="0" y="21600"/>
                  </a:lnTo>
                  <a:lnTo>
                    <a:pt x="0" y="12600"/>
                  </a:lnTo>
                  <a:close/>
                </a:path>
              </a:pathLst>
            </a:custGeom>
            <a:solidFill>
              <a:srgbClr val="F5F8DA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r" defTabSz="889000">
                <a:lnSpc>
                  <a:spcPct val="90000"/>
                </a:lnSpc>
                <a:spcBef>
                  <a:spcPts val="1100"/>
                </a:spcBef>
                <a:defRPr sz="20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grpSp>
          <p:nvGrpSpPr>
            <p:cNvPr id="139" name="Group"/>
            <p:cNvGrpSpPr/>
            <p:nvPr/>
          </p:nvGrpSpPr>
          <p:grpSpPr>
            <a:xfrm>
              <a:off x="1278321" y="221861"/>
              <a:ext cx="1278321" cy="672280"/>
              <a:chOff x="0" y="0"/>
              <a:chExt cx="1278320" cy="672278"/>
            </a:xfrm>
          </p:grpSpPr>
          <p:sp>
            <p:nvSpPr>
              <p:cNvPr id="137" name="Rectangle"/>
              <p:cNvSpPr/>
              <p:nvPr/>
            </p:nvSpPr>
            <p:spPr>
              <a:xfrm>
                <a:off x="0" y="82502"/>
                <a:ext cx="1278321" cy="507274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1100"/>
                  </a:spcBef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38" name="Review 2"/>
              <p:cNvSpPr txBox="1"/>
              <p:nvPr/>
            </p:nvSpPr>
            <p:spPr>
              <a:xfrm>
                <a:off x="0" y="0"/>
                <a:ext cx="1278321" cy="6722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3500" tIns="63500" rIns="63500" bIns="63500" numCol="1" anchor="ctr">
                <a:spAutoFit/>
              </a:bodyPr>
              <a:lstStyle>
                <a:lvl1pPr marL="228600" indent="-228600" algn="ctr" defTabSz="889000">
                  <a:lnSpc>
                    <a:spcPct val="90000"/>
                  </a:lnSpc>
                  <a:spcBef>
                    <a:spcPts val="800"/>
                  </a:spcBef>
                  <a:buSzPct val="100000"/>
                  <a:buFont typeface="Arial"/>
                  <a:buChar char="•"/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Review 2</a:t>
                </a:r>
              </a:p>
            </p:txBody>
          </p:sp>
        </p:grpSp>
        <p:sp>
          <p:nvSpPr>
            <p:cNvPr id="140" name="Shape"/>
            <p:cNvSpPr/>
            <p:nvPr/>
          </p:nvSpPr>
          <p:spPr>
            <a:xfrm>
              <a:off x="-116" y="533087"/>
              <a:ext cx="1438111" cy="24349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9200" y="0"/>
                  </a:lnTo>
                  <a:lnTo>
                    <a:pt x="19200" y="12600"/>
                  </a:lnTo>
                  <a:lnTo>
                    <a:pt x="21600" y="15299"/>
                  </a:lnTo>
                  <a:lnTo>
                    <a:pt x="19200" y="18000"/>
                  </a:lnTo>
                  <a:lnTo>
                    <a:pt x="19200" y="21600"/>
                  </a:lnTo>
                  <a:lnTo>
                    <a:pt x="0" y="21600"/>
                  </a:lnTo>
                  <a:lnTo>
                    <a:pt x="0" y="12600"/>
                  </a:lnTo>
                  <a:close/>
                </a:path>
              </a:pathLst>
            </a:custGeom>
            <a:solidFill>
              <a:srgbClr val="FBEBE6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r" defTabSz="889000">
                <a:lnSpc>
                  <a:spcPct val="90000"/>
                </a:lnSpc>
                <a:spcBef>
                  <a:spcPts val="1100"/>
                </a:spcBef>
                <a:defRPr sz="20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grpSp>
          <p:nvGrpSpPr>
            <p:cNvPr id="143" name="Group"/>
            <p:cNvGrpSpPr/>
            <p:nvPr/>
          </p:nvGrpSpPr>
          <p:grpSpPr>
            <a:xfrm>
              <a:off x="0" y="272589"/>
              <a:ext cx="1278321" cy="672280"/>
              <a:chOff x="0" y="0"/>
              <a:chExt cx="1278320" cy="672278"/>
            </a:xfrm>
          </p:grpSpPr>
          <p:sp>
            <p:nvSpPr>
              <p:cNvPr id="141" name="Rectangle"/>
              <p:cNvSpPr/>
              <p:nvPr/>
            </p:nvSpPr>
            <p:spPr>
              <a:xfrm>
                <a:off x="0" y="133229"/>
                <a:ext cx="1278321" cy="405820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1100"/>
                  </a:spcBef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42" name="Review 1"/>
              <p:cNvSpPr txBox="1"/>
              <p:nvPr/>
            </p:nvSpPr>
            <p:spPr>
              <a:xfrm>
                <a:off x="0" y="0"/>
                <a:ext cx="1278321" cy="6722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3500" tIns="63500" rIns="63500" bIns="63500" numCol="1" anchor="ctr">
                <a:spAutoFit/>
              </a:bodyPr>
              <a:lstStyle>
                <a:lvl1pPr marL="228600" indent="-228600" algn="ctr" defTabSz="889000">
                  <a:lnSpc>
                    <a:spcPct val="90000"/>
                  </a:lnSpc>
                  <a:spcBef>
                    <a:spcPts val="800"/>
                  </a:spcBef>
                  <a:buSzPct val="100000"/>
                  <a:buFont typeface="Arial"/>
                  <a:buChar char="•"/>
                  <a:defRPr sz="20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r>
                  <a:t>Review 1</a:t>
                </a:r>
              </a:p>
            </p:txBody>
          </p:sp>
        </p:grpSp>
        <p:sp>
          <p:nvSpPr>
            <p:cNvPr id="144" name="Introduction to platforms and tools"/>
            <p:cNvSpPr txBox="1"/>
            <p:nvPr/>
          </p:nvSpPr>
          <p:spPr>
            <a:xfrm>
              <a:off x="-28759" y="855989"/>
              <a:ext cx="1335606" cy="12093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t>Introduction to platforms and tools</a:t>
              </a:r>
            </a:p>
          </p:txBody>
        </p:sp>
        <p:sp>
          <p:nvSpPr>
            <p:cNvPr id="145" name="Module-based development"/>
            <p:cNvSpPr txBox="1"/>
            <p:nvPr/>
          </p:nvSpPr>
          <p:spPr>
            <a:xfrm>
              <a:off x="1285376" y="1311587"/>
              <a:ext cx="1424706" cy="12093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t>Module-based development</a:t>
              </a:r>
            </a:p>
          </p:txBody>
        </p:sp>
        <p:sp>
          <p:nvSpPr>
            <p:cNvPr id="146" name="Role Based system integration"/>
            <p:cNvSpPr txBox="1"/>
            <p:nvPr/>
          </p:nvSpPr>
          <p:spPr>
            <a:xfrm>
              <a:off x="2567729" y="1874818"/>
              <a:ext cx="1549728" cy="917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t>Role Based system integration</a:t>
              </a:r>
            </a:p>
          </p:txBody>
        </p:sp>
        <p:sp>
          <p:nvSpPr>
            <p:cNvPr id="147" name="Testing and data validation"/>
            <p:cNvSpPr txBox="1"/>
            <p:nvPr/>
          </p:nvSpPr>
          <p:spPr>
            <a:xfrm>
              <a:off x="3830190" y="2420164"/>
              <a:ext cx="1270251" cy="12093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t>Testing and data validation</a:t>
              </a:r>
            </a:p>
          </p:txBody>
        </p:sp>
        <p:sp>
          <p:nvSpPr>
            <p:cNvPr id="148" name="Final deployment and documentation"/>
            <p:cNvSpPr txBox="1"/>
            <p:nvPr/>
          </p:nvSpPr>
          <p:spPr>
            <a:xfrm>
              <a:off x="5125116" y="2480506"/>
              <a:ext cx="1248268" cy="15014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t>Final deployment and documentation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Github Link</a:t>
            </a:r>
          </a:p>
        </p:txBody>
      </p:sp>
      <p:sp>
        <p:nvSpPr>
          <p:cNvPr id="15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15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46307" y="1061297"/>
            <a:ext cx="10515601" cy="4351338"/>
          </a:xfrm>
          <a:prstGeom prst="rect">
            <a:avLst/>
          </a:prstGeom>
        </p:spPr>
        <p:txBody>
          <a:bodyPr/>
          <a:lstStyle/>
          <a:p>
            <a:endParaRPr dirty="0"/>
          </a:p>
          <a:p>
            <a:r>
              <a:rPr lang="en-IN" dirty="0">
                <a:solidFill>
                  <a:schemeClr val="accent1"/>
                </a:solidFill>
                <a:hlinkClick r:id="rId2" tooltip="https://github.com/venkatacha1/Software-Develop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https://github.com/venkatacha1/Software-Development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</p:spPr>
        <p:txBody>
          <a:bodyPr/>
          <a:lstStyle/>
          <a:p>
            <a:pPr marL="0" indent="0" algn="ctr">
              <a:buSzTx/>
              <a:buNone/>
              <a:defRPr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0" indent="0" algn="ctr">
              <a:buSzTx/>
              <a:buNone/>
              <a:defRPr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</a:t>
            </a:r>
            <a:r>
              <a:rPr>
                <a:solidFill>
                  <a:srgbClr val="F8CBAD"/>
                </a:solidFill>
              </a:rPr>
              <a:t>Q&amp;A</a:t>
            </a:r>
          </a:p>
        </p:txBody>
      </p:sp>
      <p:sp>
        <p:nvSpPr>
          <p:cNvPr id="15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7260" y="6401179"/>
            <a:ext cx="256540" cy="2754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15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05253" y="2150340"/>
            <a:ext cx="2841171" cy="38324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200" y="2547258"/>
            <a:ext cx="10515600" cy="1214847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6600">
                <a:solidFill>
                  <a:srgbClr val="A7118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 !!</a:t>
            </a:r>
          </a:p>
        </p:txBody>
      </p:sp>
      <p:sp>
        <p:nvSpPr>
          <p:cNvPr id="16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386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modified xsi:type="dcterms:W3CDTF">2026-01-13T19:21:49Z</dcterms:modified>
</cp:coreProperties>
</file>